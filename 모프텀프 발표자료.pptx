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NEXON Lv2 Gothic"/>
      <p:regular r:id="rId13"/>
    </p:embeddedFont>
    <p:embeddedFont>
      <p:font typeface="NEXON Lv2 Gothic Bold"/>
      <p:bold r:id="rId14"/>
    </p:embeddedFont>
    <p:embeddedFont>
      <p:font typeface="Pretendard Regular"/>
      <p:regular r:id="rId15"/>
    </p:embeddedFont>
    <p:embeddedFont>
      <p:font typeface="NEXON Lv2 Gothic Medium"/>
      <p:bold r:id="rId16"/>
    </p:embeddedFont>
    <p:embeddedFont>
      <p:font typeface="Pretendard Bold"/>
      <p:bold r:id="rId17"/>
    </p:embeddedFont>
    <p:embeddedFont>
      <p:font typeface="Pretendard ExtraLight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.fntdata" Type="http://schemas.openxmlformats.org/officeDocument/2006/relationships/font"/><Relationship Id="rId14" Target="fonts/font2.fntdata" Type="http://schemas.openxmlformats.org/officeDocument/2006/relationships/font"/><Relationship Id="rId15" Target="fonts/font3.fntdata" Type="http://schemas.openxmlformats.org/officeDocument/2006/relationships/font"/><Relationship Id="rId16" Target="fonts/font4.fntdata" Type="http://schemas.openxmlformats.org/officeDocument/2006/relationships/font"/><Relationship Id="rId17" Target="fonts/font5.fntdata" Type="http://schemas.openxmlformats.org/officeDocument/2006/relationships/font"/><Relationship Id="rId18" Target="fonts/font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482600"/>
            <a:ext cx="172339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348200" y="482600"/>
            <a:ext cx="419100" cy="419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8267700"/>
            <a:ext cx="15494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8966200"/>
            <a:ext cx="154940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8420100"/>
            <a:ext cx="419100" cy="419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16100" y="8420100"/>
            <a:ext cx="419100" cy="4191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71600" y="4978400"/>
            <a:ext cx="81534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8000" b="false" i="false" u="none" strike="noStrike">
                <a:solidFill>
                  <a:srgbClr val="000000"/>
                </a:solidFill>
                <a:ea typeface="NEXON Lv2 Gothic"/>
              </a:rPr>
              <a:t>나만의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1600" y="6413500"/>
            <a:ext cx="139954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8000" b="false" i="false" u="none" strike="noStrike">
                <a:solidFill>
                  <a:srgbClr val="FC5230"/>
                </a:solidFill>
                <a:ea typeface="NEXON Lv2 Gothic Bold"/>
              </a:rPr>
              <a:t>학습</a:t>
            </a:r>
            <a:r>
              <a:rPr lang="en-US" sz="8000" b="false" i="false" u="none" strike="noStrike">
                <a:solidFill>
                  <a:srgbClr val="FC5230"/>
                </a:solidFill>
                <a:latin typeface="NEXON Lv2 Gothic Bold"/>
              </a:rPr>
              <a:t> </a:t>
            </a:r>
            <a:r>
              <a:rPr lang="ko-KR" sz="8000" b="false" i="false" u="none" strike="noStrike">
                <a:solidFill>
                  <a:srgbClr val="000000"/>
                </a:solidFill>
                <a:ea typeface="NEXON Lv2 Gothic Bold"/>
              </a:rPr>
              <a:t>타이머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1600" y="1320800"/>
            <a:ext cx="80264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787878"/>
                </a:solidFill>
                <a:ea typeface="Pretendard Regular"/>
              </a:rPr>
              <a:t>모바일</a:t>
            </a:r>
            <a:r>
              <a:rPr lang="en-US" sz="3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787878"/>
                </a:solidFill>
                <a:ea typeface="Pretendard Regular"/>
              </a:rPr>
              <a:t>프로그래밍</a:t>
            </a:r>
            <a:r>
              <a:rPr lang="en-US" sz="3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787878"/>
                </a:solidFill>
                <a:ea typeface="Pretendard Regular"/>
              </a:rPr>
              <a:t>텀프로젝트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98500" y="8382000"/>
            <a:ext cx="3352800" cy="46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600" b="false" i="false" u="none" strike="noStrike">
                <a:solidFill>
                  <a:srgbClr val="000000"/>
                </a:solidFill>
                <a:latin typeface="Pretendard Regular"/>
              </a:rPr>
              <a:t>2021136019 </a:t>
            </a:r>
            <a:r>
              <a:rPr lang="ko-KR" sz="2600" b="false" i="false" u="none" strike="noStrike">
                <a:solidFill>
                  <a:srgbClr val="000000"/>
                </a:solidFill>
                <a:ea typeface="Pretendard Regular"/>
              </a:rPr>
              <a:t>김민선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482600"/>
            <a:ext cx="172339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348200" y="482600"/>
            <a:ext cx="419100" cy="419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71600" y="1320800"/>
            <a:ext cx="4762500" cy="764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908800" y="1346200"/>
            <a:ext cx="101219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400" b="false" i="false" u="none" strike="noStrike">
                <a:solidFill>
                  <a:srgbClr val="000000"/>
                </a:solidFill>
                <a:ea typeface="NEXON Lv2 Gothic Bold"/>
              </a:rPr>
              <a:t>목차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08800" y="2527300"/>
            <a:ext cx="4076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NEXON Lv2 Gothic Medium"/>
              </a:rPr>
              <a:t>- </a:t>
            </a:r>
            <a:r>
              <a:rPr lang="ko-KR" sz="3000" b="false" i="false" u="none" strike="noStrike">
                <a:solidFill>
                  <a:srgbClr val="000000"/>
                </a:solidFill>
                <a:ea typeface="NEXON Lv2 Gothic Medium"/>
              </a:rPr>
              <a:t>프로젝트</a:t>
            </a:r>
            <a:r>
              <a:rPr lang="en-US" sz="3000" b="false" i="false" u="none" strike="noStrike">
                <a:solidFill>
                  <a:srgbClr val="000000"/>
                </a:solidFill>
                <a:latin typeface="NEXON Lv2 Gothic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NEXON Lv2 Gothic Medium"/>
              </a:rPr>
              <a:t>주제</a:t>
            </a:r>
            <a:r>
              <a:rPr lang="en-US" sz="3000" b="false" i="false" u="none" strike="noStrike">
                <a:solidFill>
                  <a:srgbClr val="000000"/>
                </a:solidFill>
                <a:latin typeface="NEXON Lv2 Gothic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NEXON Lv2 Gothic Medium"/>
              </a:rPr>
              <a:t>선정</a:t>
            </a:r>
            <a:r>
              <a:rPr lang="en-US" sz="3000" b="false" i="false" u="none" strike="noStrike">
                <a:solidFill>
                  <a:srgbClr val="000000"/>
                </a:solidFill>
                <a:latin typeface="NEXON Lv2 Gothic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NEXON Lv2 Gothic Medium"/>
              </a:rPr>
              <a:t>배경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08800" y="3568700"/>
            <a:ext cx="5715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NEXON Lv2 Gothic Medium"/>
              </a:rPr>
              <a:t>- </a:t>
            </a:r>
            <a:r>
              <a:rPr lang="ko-KR" sz="3000" b="false" i="false" u="none" strike="noStrike">
                <a:solidFill>
                  <a:srgbClr val="000000"/>
                </a:solidFill>
                <a:ea typeface="NEXON Lv2 Gothic Medium"/>
              </a:rPr>
              <a:t>프로젝트에서</a:t>
            </a:r>
            <a:r>
              <a:rPr lang="en-US" sz="3000" b="false" i="false" u="none" strike="noStrike">
                <a:solidFill>
                  <a:srgbClr val="000000"/>
                </a:solidFill>
                <a:latin typeface="NEXON Lv2 Gothic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NEXON Lv2 Gothic Medium"/>
              </a:rPr>
              <a:t>구현한</a:t>
            </a:r>
            <a:r>
              <a:rPr lang="en-US" sz="3000" b="false" i="false" u="none" strike="noStrike">
                <a:solidFill>
                  <a:srgbClr val="000000"/>
                </a:solidFill>
                <a:latin typeface="NEXON Lv2 Gothic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NEXON Lv2 Gothic Medium"/>
              </a:rPr>
              <a:t>기능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08800" y="4597400"/>
            <a:ext cx="4076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NEXON Lv2 Gothic Medium"/>
              </a:rPr>
              <a:t>- </a:t>
            </a:r>
            <a:r>
              <a:rPr lang="ko-KR" sz="3000" b="false" i="false" u="none" strike="noStrike">
                <a:solidFill>
                  <a:srgbClr val="000000"/>
                </a:solidFill>
                <a:ea typeface="NEXON Lv2 Gothic Medium"/>
              </a:rPr>
              <a:t>구현하며</a:t>
            </a:r>
            <a:r>
              <a:rPr lang="en-US" sz="3000" b="false" i="false" u="none" strike="noStrike">
                <a:solidFill>
                  <a:srgbClr val="000000"/>
                </a:solidFill>
                <a:latin typeface="NEXON Lv2 Gothic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NEXON Lv2 Gothic Medium"/>
              </a:rPr>
              <a:t>어려웠던</a:t>
            </a:r>
            <a:r>
              <a:rPr lang="en-US" sz="3000" b="false" i="false" u="none" strike="noStrike">
                <a:solidFill>
                  <a:srgbClr val="000000"/>
                </a:solidFill>
                <a:latin typeface="NEXON Lv2 Gothic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NEXON Lv2 Gothic Medium"/>
              </a:rPr>
              <a:t>점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08800" y="5626100"/>
            <a:ext cx="4076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NEXON Lv2 Gothic Medium"/>
              </a:rPr>
              <a:t>- </a:t>
            </a:r>
            <a:r>
              <a:rPr lang="ko-KR" sz="3000" b="false" i="false" u="none" strike="noStrike">
                <a:solidFill>
                  <a:srgbClr val="000000"/>
                </a:solidFill>
                <a:ea typeface="NEXON Lv2 Gothic Medium"/>
              </a:rPr>
              <a:t>시연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482600"/>
            <a:ext cx="172339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348200" y="482600"/>
            <a:ext cx="419100" cy="419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71600" y="1346200"/>
            <a:ext cx="156464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400" b="false" i="false" u="none" strike="noStrike">
                <a:solidFill>
                  <a:srgbClr val="000000"/>
                </a:solidFill>
                <a:ea typeface="NEXON Lv2 Gothic Bold"/>
              </a:rPr>
              <a:t>프로젝트</a:t>
            </a:r>
            <a:r>
              <a:rPr lang="en-US" sz="4400" b="false" i="false" u="none" strike="noStrike">
                <a:solidFill>
                  <a:srgbClr val="000000"/>
                </a:solidFill>
                <a:latin typeface="NEXON Lv2 Gothic Bold"/>
              </a:rPr>
              <a:t> </a:t>
            </a:r>
            <a:r>
              <a:rPr lang="ko-KR" sz="4400" b="false" i="false" u="none" strike="noStrike">
                <a:solidFill>
                  <a:srgbClr val="000000"/>
                </a:solidFill>
                <a:ea typeface="NEXON Lv2 Gothic Bold"/>
              </a:rPr>
              <a:t>주제</a:t>
            </a:r>
            <a:r>
              <a:rPr lang="en-US" sz="4400" b="false" i="false" u="none" strike="noStrike">
                <a:solidFill>
                  <a:srgbClr val="000000"/>
                </a:solidFill>
                <a:latin typeface="NEXON Lv2 Gothic Bold"/>
              </a:rPr>
              <a:t> </a:t>
            </a:r>
            <a:r>
              <a:rPr lang="ko-KR" sz="4400" b="false" i="false" u="none" strike="noStrike">
                <a:solidFill>
                  <a:srgbClr val="000000"/>
                </a:solidFill>
                <a:ea typeface="NEXON Lv2 Gothic Bold"/>
              </a:rPr>
              <a:t>선정</a:t>
            </a:r>
            <a:r>
              <a:rPr lang="en-US" sz="4400" b="false" i="false" u="none" strike="noStrike">
                <a:solidFill>
                  <a:srgbClr val="000000"/>
                </a:solidFill>
                <a:latin typeface="NEXON Lv2 Gothic Bold"/>
              </a:rPr>
              <a:t> </a:t>
            </a:r>
            <a:r>
              <a:rPr lang="ko-KR" sz="4400" b="false" i="false" u="none" strike="noStrike">
                <a:solidFill>
                  <a:srgbClr val="000000"/>
                </a:solidFill>
                <a:ea typeface="NEXON Lv2 Gothic Bold"/>
              </a:rPr>
              <a:t>배경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20800" y="6731000"/>
            <a:ext cx="6108700" cy="1714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43000" y="7213600"/>
            <a:ext cx="64770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4400" b="false" i="false" u="none" strike="noStrike">
                <a:solidFill>
                  <a:srgbClr val="FC5230"/>
                </a:solidFill>
                <a:ea typeface="NEXON Lv2 Gothic Bold"/>
              </a:rPr>
              <a:t>효과적인</a:t>
            </a:r>
            <a:r>
              <a:rPr lang="en-US" sz="4400" b="false" i="false" u="none" strike="noStrike">
                <a:solidFill>
                  <a:srgbClr val="FC5230"/>
                </a:solidFill>
                <a:latin typeface="NEXON Lv2 Gothic Bold"/>
              </a:rPr>
              <a:t> </a:t>
            </a:r>
            <a:r>
              <a:rPr lang="ko-KR" sz="4400" b="false" i="false" u="none" strike="noStrike">
                <a:solidFill>
                  <a:srgbClr val="FC5230"/>
                </a:solidFill>
                <a:ea typeface="NEXON Lv2 Gothic Bold"/>
              </a:rPr>
              <a:t>시간</a:t>
            </a:r>
            <a:r>
              <a:rPr lang="en-US" sz="4400" b="false" i="false" u="none" strike="noStrike">
                <a:solidFill>
                  <a:srgbClr val="FC5230"/>
                </a:solidFill>
                <a:latin typeface="NEXON Lv2 Gothic Bold"/>
              </a:rPr>
              <a:t> </a:t>
            </a:r>
            <a:r>
              <a:rPr lang="ko-KR" sz="4400" b="false" i="false" u="none" strike="noStrike">
                <a:solidFill>
                  <a:srgbClr val="FC5230"/>
                </a:solidFill>
                <a:ea typeface="NEXON Lv2 Gothic Bold"/>
              </a:rPr>
              <a:t>관리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083300" y="3429000"/>
            <a:ext cx="6108700" cy="1714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5905500" y="3924300"/>
            <a:ext cx="64770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4400" b="false" i="false" u="none" strike="noStrike">
                <a:solidFill>
                  <a:srgbClr val="FC5230"/>
                </a:solidFill>
                <a:ea typeface="NEXON Lv2 Gothic Bold"/>
              </a:rPr>
              <a:t>생산성</a:t>
            </a:r>
            <a:r>
              <a:rPr lang="en-US" sz="4400" b="false" i="false" u="none" strike="noStrike">
                <a:solidFill>
                  <a:srgbClr val="FC5230"/>
                </a:solidFill>
                <a:latin typeface="NEXON Lv2 Gothic Bold"/>
              </a:rPr>
              <a:t> </a:t>
            </a:r>
            <a:r>
              <a:rPr lang="ko-KR" sz="4400" b="false" i="false" u="none" strike="noStrike">
                <a:solidFill>
                  <a:srgbClr val="FC5230"/>
                </a:solidFill>
                <a:ea typeface="NEXON Lv2 Gothic Bold"/>
              </a:rPr>
              <a:t>향상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845800" y="6718300"/>
            <a:ext cx="6108700" cy="1714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0668000" y="7213600"/>
            <a:ext cx="64770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4400" b="false" i="false" u="none" strike="noStrike">
                <a:solidFill>
                  <a:srgbClr val="FC5230"/>
                </a:solidFill>
                <a:ea typeface="NEXON Lv2 Gothic Bold"/>
              </a:rPr>
              <a:t>학습</a:t>
            </a:r>
            <a:r>
              <a:rPr lang="en-US" sz="4400" b="false" i="false" u="none" strike="noStrike">
                <a:solidFill>
                  <a:srgbClr val="FC5230"/>
                </a:solidFill>
                <a:latin typeface="NEXON Lv2 Gothic Bold"/>
              </a:rPr>
              <a:t> </a:t>
            </a:r>
            <a:r>
              <a:rPr lang="ko-KR" sz="4400" b="false" i="false" u="none" strike="noStrike">
                <a:solidFill>
                  <a:srgbClr val="FC5230"/>
                </a:solidFill>
                <a:ea typeface="NEXON Lv2 Gothic Bold"/>
              </a:rPr>
              <a:t>및</a:t>
            </a:r>
            <a:r>
              <a:rPr lang="en-US" sz="4400" b="false" i="false" u="none" strike="noStrike">
                <a:solidFill>
                  <a:srgbClr val="FC5230"/>
                </a:solidFill>
                <a:latin typeface="NEXON Lv2 Gothic Bold"/>
              </a:rPr>
              <a:t> </a:t>
            </a:r>
            <a:r>
              <a:rPr lang="ko-KR" sz="4400" b="false" i="false" u="none" strike="noStrike">
                <a:solidFill>
                  <a:srgbClr val="FC5230"/>
                </a:solidFill>
                <a:ea typeface="NEXON Lv2 Gothic Bold"/>
              </a:rPr>
              <a:t>업무</a:t>
            </a:r>
            <a:r>
              <a:rPr lang="en-US" sz="4400" b="false" i="false" u="none" strike="noStrike">
                <a:solidFill>
                  <a:srgbClr val="FC5230"/>
                </a:solidFill>
                <a:latin typeface="NEXON Lv2 Gothic Bold"/>
              </a:rPr>
              <a:t> </a:t>
            </a:r>
            <a:r>
              <a:rPr lang="ko-KR" sz="4400" b="false" i="false" u="none" strike="noStrike">
                <a:solidFill>
                  <a:srgbClr val="FC5230"/>
                </a:solidFill>
                <a:ea typeface="NEXON Lv2 Gothic Bold"/>
              </a:rPr>
              <a:t>루틴</a:t>
            </a:r>
            <a:r>
              <a:rPr lang="en-US" sz="4400" b="false" i="false" u="none" strike="noStrike">
                <a:solidFill>
                  <a:srgbClr val="FC5230"/>
                </a:solidFill>
                <a:latin typeface="NEXON Lv2 Gothic Bold"/>
              </a:rPr>
              <a:t> </a:t>
            </a:r>
            <a:r>
              <a:rPr lang="ko-KR" sz="4400" b="false" i="false" u="none" strike="noStrike">
                <a:solidFill>
                  <a:srgbClr val="FC5230"/>
                </a:solidFill>
                <a:ea typeface="NEXON Lv2 Gothic Bold"/>
              </a:rPr>
              <a:t>최적화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348200" y="482600"/>
            <a:ext cx="419100" cy="419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71600" y="2743200"/>
            <a:ext cx="457200" cy="4572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71600" y="1346200"/>
            <a:ext cx="156464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400" b="false" i="false" u="none" strike="noStrike">
                <a:solidFill>
                  <a:srgbClr val="000000"/>
                </a:solidFill>
                <a:ea typeface="NEXON Lv2 Gothic Bold"/>
              </a:rPr>
              <a:t>프로젝트에서</a:t>
            </a:r>
            <a:r>
              <a:rPr lang="en-US" sz="4400" b="false" i="false" u="none" strike="noStrike">
                <a:solidFill>
                  <a:srgbClr val="000000"/>
                </a:solidFill>
                <a:latin typeface="NEXON Lv2 Gothic Bold"/>
              </a:rPr>
              <a:t> </a:t>
            </a:r>
            <a:r>
              <a:rPr lang="ko-KR" sz="4400" b="false" i="false" u="none" strike="noStrike">
                <a:solidFill>
                  <a:srgbClr val="000000"/>
                </a:solidFill>
                <a:ea typeface="NEXON Lv2 Gothic Bold"/>
              </a:rPr>
              <a:t>구현한</a:t>
            </a:r>
            <a:r>
              <a:rPr lang="en-US" sz="4400" b="false" i="false" u="none" strike="noStrike">
                <a:solidFill>
                  <a:srgbClr val="000000"/>
                </a:solidFill>
                <a:latin typeface="NEXON Lv2 Gothic Bold"/>
              </a:rPr>
              <a:t> </a:t>
            </a:r>
            <a:r>
              <a:rPr lang="ko-KR" sz="4400" b="false" i="false" u="none" strike="noStrike">
                <a:solidFill>
                  <a:srgbClr val="000000"/>
                </a:solidFill>
                <a:ea typeface="NEXON Lv2 Gothic Bold"/>
              </a:rPr>
              <a:t>기능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1600" y="4102100"/>
            <a:ext cx="35306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학습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타이머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600" y="4902200"/>
            <a:ext cx="3505200" cy="3987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사용자의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공부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시간을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측정합니다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. </a:t>
            </a:r>
          </a:p>
          <a:p>
            <a:pPr algn="l" lvl="0">
              <a:lnSpc>
                <a:spcPct val="107899"/>
              </a:lnSpc>
            </a:pP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과목을</a:t>
            </a:r>
            <a:r>
              <a:rPr lang="en-US" sz="2000" b="tru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추가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할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있으며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각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과목마다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시간을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측정할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있습니다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. 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모든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과목의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공부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시간을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합친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총</a:t>
            </a:r>
            <a:r>
              <a:rPr lang="en-US" sz="2000" b="tru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시간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또한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측정할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있습니다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타이머는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간단한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en-US" sz="2000" b="true" i="false" u="none" strike="noStrike">
                <a:solidFill>
                  <a:srgbClr val="787878"/>
                </a:solidFill>
                <a:latin typeface="Pretendard Regular"/>
              </a:rPr>
              <a:t>"HH:MM:SS"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형식으로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표시되어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사용자에게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경과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시간을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명확하게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보여줍니다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/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422900" y="2743200"/>
            <a:ext cx="457200" cy="4572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5422900" y="4102100"/>
            <a:ext cx="35306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투두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리스트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22900" y="4902200"/>
            <a:ext cx="3505200" cy="365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사용자는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웹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내에서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할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일을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추가</a:t>
            </a:r>
            <a:r>
              <a:rPr lang="en-US" sz="2000" b="true" i="false" u="none" strike="noStrike">
                <a:solidFill>
                  <a:srgbClr val="787878"/>
                </a:solidFill>
                <a:latin typeface="Pretendard Regular"/>
              </a:rPr>
              <a:t>,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수정</a:t>
            </a:r>
            <a:r>
              <a:rPr lang="en-US" sz="2000" b="true" i="false" u="none" strike="noStrike">
                <a:solidFill>
                  <a:srgbClr val="787878"/>
                </a:solidFill>
                <a:latin typeface="Pretendard Regular"/>
              </a:rPr>
              <a:t>,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삭제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할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있습니다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. 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개인이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날짜별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로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달성해야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할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작업을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추적할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있는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효율적인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방법을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제공합니다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. 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-US" sz="2000" b="true" i="false" u="none" strike="noStrike">
                <a:solidFill>
                  <a:srgbClr val="787878"/>
                </a:solidFill>
                <a:latin typeface="Pretendard Regular"/>
              </a:rPr>
              <a:t>localStorage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를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사용하여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웹이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닫힌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후에도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데이터가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보존되어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사용자에게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작업에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대한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지속적인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기록을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제공할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있습니다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. 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881100" y="2743200"/>
            <a:ext cx="457200" cy="4572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3881100" y="4102100"/>
            <a:ext cx="35306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공부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노래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93800" y="4902200"/>
            <a:ext cx="3505200" cy="431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사용자가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공부할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때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들을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있는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다양한</a:t>
            </a:r>
            <a:r>
              <a:rPr lang="en-US" sz="2000" b="tru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음악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제공합니다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. 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lofi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음악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리스트를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제공하며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,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사용자는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리스트에서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노래를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선택해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오디오</a:t>
            </a:r>
            <a:r>
              <a:rPr lang="en-US" sz="2000" b="tru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플레이어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에서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재생할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있습니다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. 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유튜브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에서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제공하는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공부에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적합한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음악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링크를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포함하고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있어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,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사용자는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해당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링크를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클릭해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실시간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방송이나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긴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시간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동안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재생되는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lofi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음악을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들을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있습니다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.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26600" y="2743200"/>
            <a:ext cx="457200" cy="4572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626600" y="4102100"/>
            <a:ext cx="35306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학습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캘린더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26600" y="4902200"/>
            <a:ext cx="3505200" cy="365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사용자는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매일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학습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시간을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추적하는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월별</a:t>
            </a:r>
            <a:r>
              <a:rPr lang="en-US" sz="2000" b="tru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달력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보고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상호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작용할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있습니다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. 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날짜별</a:t>
            </a:r>
            <a:r>
              <a:rPr lang="en-US" sz="2000" b="tru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공부시간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표시하여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매일의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공부습관을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쉽게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추적할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있습니다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. 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다양한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과목에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대한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사용자의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학습</a:t>
            </a:r>
            <a:r>
              <a:rPr lang="en-US" sz="2000" b="tru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시간</a:t>
            </a:r>
            <a:r>
              <a:rPr lang="en-US" sz="2000" b="tru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분포를</a:t>
            </a:r>
            <a:r>
              <a:rPr lang="en-US" sz="2000" b="tru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시각화하는</a:t>
            </a:r>
            <a:r>
              <a:rPr lang="en-US" sz="2000" b="tru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787878"/>
                </a:solidFill>
                <a:ea typeface="Pretendard Regular"/>
              </a:rPr>
              <a:t>차트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가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787878"/>
                </a:solidFill>
                <a:ea typeface="Pretendard Regular"/>
              </a:rPr>
              <a:t>있습니다</a:t>
            </a:r>
            <a:r>
              <a:rPr lang="en-US" sz="2000" b="false" i="false" u="none" strike="noStrike">
                <a:solidFill>
                  <a:srgbClr val="787878"/>
                </a:solidFill>
                <a:latin typeface="Pretendard Regular"/>
              </a:rPr>
              <a:t>. 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47700" y="482600"/>
            <a:ext cx="172339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348200" y="482600"/>
            <a:ext cx="419100" cy="419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71600" y="1346200"/>
            <a:ext cx="156464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400" b="false" i="false" u="none" strike="noStrike">
                <a:solidFill>
                  <a:srgbClr val="000000"/>
                </a:solidFill>
                <a:ea typeface="NEXON Lv2 Gothic Bold"/>
              </a:rPr>
              <a:t>구현하며</a:t>
            </a:r>
            <a:r>
              <a:rPr lang="en-US" sz="4400" b="false" i="false" u="none" strike="noStrike">
                <a:solidFill>
                  <a:srgbClr val="000000"/>
                </a:solidFill>
                <a:latin typeface="NEXON Lv2 Gothic Bold"/>
              </a:rPr>
              <a:t> </a:t>
            </a:r>
            <a:r>
              <a:rPr lang="ko-KR" sz="4400" b="false" i="false" u="none" strike="noStrike">
                <a:solidFill>
                  <a:srgbClr val="000000"/>
                </a:solidFill>
                <a:ea typeface="NEXON Lv2 Gothic Bold"/>
              </a:rPr>
              <a:t>어려웠던</a:t>
            </a:r>
            <a:r>
              <a:rPr lang="en-US" sz="4400" b="false" i="false" u="none" strike="noStrike">
                <a:solidFill>
                  <a:srgbClr val="000000"/>
                </a:solidFill>
                <a:latin typeface="NEXON Lv2 Gothic Bold"/>
              </a:rPr>
              <a:t> </a:t>
            </a:r>
            <a:r>
              <a:rPr lang="ko-KR" sz="4400" b="false" i="false" u="none" strike="noStrike">
                <a:solidFill>
                  <a:srgbClr val="000000"/>
                </a:solidFill>
                <a:ea typeface="NEXON Lv2 Gothic Bold"/>
              </a:rPr>
              <a:t>점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1600" y="2679700"/>
            <a:ext cx="74295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800" b="false" i="false" u="none" strike="noStrike">
                <a:solidFill>
                  <a:srgbClr val="FC5230"/>
                </a:solidFill>
                <a:ea typeface="Pretendard Bold"/>
              </a:rPr>
              <a:t>반응형</a:t>
            </a:r>
            <a:r>
              <a:rPr lang="en-US" sz="2800" b="false" i="false" u="none" strike="noStrike">
                <a:solidFill>
                  <a:srgbClr val="FC523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FC5230"/>
                </a:solidFill>
                <a:ea typeface="Pretendard Bold"/>
              </a:rPr>
              <a:t>웹앱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의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구성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600" y="3479800"/>
            <a:ext cx="7404100" cy="233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구현하는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있어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주요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과제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중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하나는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장치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에서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완벽하게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반응하는지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확인하는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것이었습니다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.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사용자가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데스크톱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,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휴대폰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다양한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플랫폼에서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앱에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액세스하므로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모든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크기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에서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원활하게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작동하도록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레이아웃과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디자인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요소를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조정하는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것이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중요했습니다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.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탐색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용이성을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유지하면서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일관된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인터페이스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유지하기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위해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여러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장치에서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테스트하는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것은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시간이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많이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걸리는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작업이었지만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사용자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접근성을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향상시키는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필수적이었습니다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0400" y="2679700"/>
            <a:ext cx="74295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800" b="false" i="false" u="none" strike="noStrike">
                <a:solidFill>
                  <a:srgbClr val="FC5230"/>
                </a:solidFill>
                <a:ea typeface="Pretendard Bold"/>
              </a:rPr>
              <a:t>로컬</a:t>
            </a:r>
            <a:r>
              <a:rPr lang="en-US" sz="2800" b="false" i="false" u="none" strike="noStrike">
                <a:solidFill>
                  <a:srgbClr val="FC523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FC5230"/>
                </a:solidFill>
                <a:ea typeface="Pretendard Bold"/>
              </a:rPr>
              <a:t>저장소</a:t>
            </a:r>
            <a:r>
              <a:rPr lang="en-US" sz="2800" b="false" i="false" u="none" strike="noStrike">
                <a:solidFill>
                  <a:srgbClr val="FC523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사용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50400" y="3479800"/>
            <a:ext cx="7404100" cy="233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사용자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경험을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향상시키기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위해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공부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시간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로그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,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할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목록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세션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저장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하기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위해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로컬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저장소를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사용하기로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결정했습니다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.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브라우저를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닫거나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새로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고친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후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에도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사용자가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앱으로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돌아올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데이터에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원활하게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액세스할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있도록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하려면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데이터가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올바르게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저장되고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검색되는지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확인하기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위한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엄격한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테스트가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필요했습니다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.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또한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로컬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스토리지의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데이터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손실이나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오버플로와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같은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잠재적인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문제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고려해야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했으며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,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이를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위해서는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데이터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세트를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삭제하고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처리하기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위한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전략을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구현해야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했습니다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1600" y="6172200"/>
            <a:ext cx="74295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웹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FC5230"/>
                </a:solidFill>
                <a:ea typeface="Pretendard Bold"/>
              </a:rPr>
              <a:t>디자인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4300" y="6972300"/>
            <a:ext cx="7404100" cy="200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시각적으로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매력적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이고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친화적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인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인터페이스를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디자인하는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것은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다른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중요한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과제였습니다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.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사용자가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공부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시간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관리라는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핵심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업무에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방해가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되지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않도록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깔끔하고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미니멀한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디자인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목표로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삼았습니다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.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인터페이스가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시각적으로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즐겁고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탐색하기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쉽도록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보장하면서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미적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측면과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기능성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사이의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균형을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맞추려면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색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구성표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,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활자체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,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레이아웃에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신중한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결정이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필요했습니다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63100" y="6172200"/>
            <a:ext cx="74295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기능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FC5230"/>
                </a:solidFill>
                <a:ea typeface="Pretendard Bold"/>
              </a:rPr>
              <a:t>기획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63100" y="6972300"/>
            <a:ext cx="7404100" cy="233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사용자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정의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가능한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학습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타이머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,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작업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관리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시스템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,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생산성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분석과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같은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계획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기능은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원활하고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효과적으로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함께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작업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할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있도록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신중한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생각이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필요했습니다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.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복잡성이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추가되면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연구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세션을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단순화하기보다는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잠재적으로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사용자를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압도할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있으므로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기능과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유용성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사이의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적절한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균형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맞추는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것이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중요했습니다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.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이를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위해서는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기능을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개선하고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시간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관리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개선이라는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앱의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핵심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목적을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충족하는지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확인하기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위해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지속적인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반복과</a:t>
            </a:r>
            <a:r>
              <a:rPr lang="en-US" sz="20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true" i="false" u="none" strike="noStrike">
                <a:solidFill>
                  <a:srgbClr val="000000"/>
                </a:solidFill>
                <a:ea typeface="Pretendard Regular"/>
              </a:rPr>
              <a:t>피드백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ExtraLight"/>
              </a:rPr>
              <a:t>필요했습니다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ExtraLigh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482600"/>
            <a:ext cx="172339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348200" y="482600"/>
            <a:ext cx="419100" cy="419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3721100"/>
            <a:ext cx="419100" cy="419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16100" y="3721100"/>
            <a:ext cx="419100" cy="419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371600" y="4737100"/>
            <a:ext cx="3619500" cy="774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400" b="false" i="false" u="none" strike="noStrike">
                <a:solidFill>
                  <a:srgbClr val="000000"/>
                </a:solidFill>
                <a:ea typeface="NEXON Lv2 Gothic Bold"/>
              </a:rPr>
              <a:t>시연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482600"/>
            <a:ext cx="172339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348200" y="482600"/>
            <a:ext cx="419100" cy="419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308100"/>
            <a:ext cx="15494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8966200"/>
            <a:ext cx="154940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371600" y="7366000"/>
            <a:ext cx="156718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6000" b="false" i="false" u="none" strike="noStrike">
                <a:solidFill>
                  <a:srgbClr val="000000"/>
                </a:solidFill>
                <a:ea typeface="NEXON Lv2 Gothic Bold"/>
              </a:rPr>
              <a:t>감사합니다</a:t>
            </a:r>
            <a:r>
              <a:rPr lang="en-US" sz="6000" b="false" i="false" u="none" strike="noStrike">
                <a:solidFill>
                  <a:srgbClr val="000000"/>
                </a:solidFill>
                <a:latin typeface="NEXON Lv2 Gothic Bold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69900" y="1447800"/>
            <a:ext cx="35941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600" b="false" i="false" u="none" strike="noStrike">
                <a:solidFill>
                  <a:srgbClr val="000000"/>
                </a:solidFill>
                <a:latin typeface="Pretendard Regular"/>
              </a:rPr>
              <a:t>2021136019 </a:t>
            </a:r>
            <a:r>
              <a:rPr lang="ko-KR" sz="2600" b="false" i="false" u="none" strike="noStrike">
                <a:solidFill>
                  <a:srgbClr val="000000"/>
                </a:solidFill>
                <a:ea typeface="Pretendard Regular"/>
              </a:rPr>
              <a:t>김민선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